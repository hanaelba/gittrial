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67048"/>
                </a:solidFill>
                <a:latin typeface="Aptos Display"/>
              </a:defRPr>
            </a:pPr>
            <a:r>
              <a:t>Git &amp; GitHub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86E7D"/>
                </a:solidFill>
                <a:latin typeface="Aptos"/>
              </a:defRPr>
            </a:pPr>
            <a:r>
              <a:t>A beginner-friendly guide to version control and teamwork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2057400"/>
            <a:ext cx="4297680" cy="1828800"/>
          </a:xfrm>
          <a:prstGeom prst="roundRect">
            <a:avLst/>
          </a:prstGeom>
          <a:solidFill>
            <a:srgbClr val="1C2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GIT</a:t>
            </a:r>
          </a:p>
          <a:p>
            <a:pPr algn="ctr">
              <a:defRPr sz="1200">
                <a:solidFill>
                  <a:srgbClr val="FFFFFF"/>
                </a:solidFill>
                <a:latin typeface="Aptos"/>
              </a:defRPr>
            </a:pPr>
            <a:r>
              <a:t>Tracks changes and versions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20840" y="2057400"/>
            <a:ext cx="4297680" cy="1828800"/>
          </a:xfrm>
          <a:prstGeom prst="roundRect">
            <a:avLst/>
          </a:prstGeom>
          <a:solidFill>
            <a:srgbClr val="327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GITHUB</a:t>
            </a:r>
          </a:p>
          <a:p>
            <a:pPr algn="ctr">
              <a:defRPr sz="1200">
                <a:solidFill>
                  <a:srgbClr val="FFFFFF"/>
                </a:solidFill>
                <a:latin typeface="Aptos"/>
              </a:defRPr>
            </a:pPr>
            <a:r>
              <a:t>Stores &amp; shares Git repositories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40680" y="2971800"/>
            <a:ext cx="1188720" cy="0"/>
          </a:xfrm>
          <a:prstGeom prst="line">
            <a:avLst/>
          </a:prstGeom>
          <a:ln w="27940">
            <a:solidFill>
              <a:srgbClr val="327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828800" y="4754880"/>
            <a:ext cx="8503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32630"/>
                </a:solidFill>
                <a:latin typeface="Aptos"/>
              </a:defRPr>
            </a:pPr>
            <a:r>
              <a:t>Git = history   •   GitHub = collaboration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67048"/>
                </a:solidFill>
                <a:latin typeface="Aptos Display"/>
              </a:defRPr>
            </a:pPr>
            <a:r>
              <a:t>Why Do We Need Git?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86E7D"/>
                </a:solidFill>
                <a:latin typeface="Aptos"/>
              </a:defRPr>
            </a:pPr>
            <a:r>
              <a:t>Because “final_final_REAL” is not a version-control strategy.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3657600" cy="2926080"/>
          </a:xfrm>
          <a:prstGeom prst="roundRect">
            <a:avLst/>
          </a:prstGeom>
          <a:solidFill>
            <a:srgbClr val="EEF0F5"/>
          </a:solidFill>
          <a:ln>
            <a:solidFill>
              <a:srgbClr val="D7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>
              <a:defRPr sz="1700">
                <a:solidFill>
                  <a:srgbClr val="232630"/>
                </a:solidFill>
                <a:latin typeface="Consolas"/>
              </a:defRPr>
            </a:pPr>
            <a:r>
              <a:t>project_final</a:t>
            </a:r>
            <a:br/>
            <a:r>
              <a:t>project_final2</a:t>
            </a:r>
            <a:br/>
            <a:r>
              <a:t>project_final_REAL</a:t>
            </a:r>
            <a:br/>
            <a:r>
              <a:t>project_final_REAL_FIXED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1600200"/>
            <a:ext cx="640080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630"/>
                </a:solidFill>
                <a:latin typeface="Aptos"/>
              </a:defRPr>
            </a:pPr>
            <a:r>
              <a:t>• Track every change</a:t>
            </a:r>
          </a:p>
          <a:p>
            <a:pPr>
              <a:spcAft>
                <a:spcPts val="1400"/>
              </a:spcAft>
              <a:defRPr sz="2000">
                <a:solidFill>
                  <a:srgbClr val="232630"/>
                </a:solidFill>
                <a:latin typeface="Aptos"/>
              </a:defRPr>
            </a:pPr>
            <a:r>
              <a:t>• Go back to an earlier version</a:t>
            </a:r>
          </a:p>
          <a:p>
            <a:pPr>
              <a:spcAft>
                <a:spcPts val="1400"/>
              </a:spcAft>
              <a:defRPr sz="2000">
                <a:solidFill>
                  <a:srgbClr val="232630"/>
                </a:solidFill>
                <a:latin typeface="Aptos"/>
              </a:defRPr>
            </a:pPr>
            <a:r>
              <a:t>• See who changed what</a:t>
            </a:r>
          </a:p>
          <a:p>
            <a:pPr>
              <a:spcAft>
                <a:spcPts val="1400"/>
              </a:spcAft>
              <a:defRPr sz="2000">
                <a:solidFill>
                  <a:srgbClr val="232630"/>
                </a:solidFill>
                <a:latin typeface="Aptos"/>
              </a:defRPr>
            </a:pPr>
            <a:r>
              <a:t>• Work safely with a team</a:t>
            </a:r>
          </a:p>
          <a:p>
            <a:pPr>
              <a:spcAft>
                <a:spcPts val="1400"/>
              </a:spcAft>
              <a:defRPr sz="2000">
                <a:solidFill>
                  <a:srgbClr val="232630"/>
                </a:solidFill>
                <a:latin typeface="Aptos"/>
              </a:defRPr>
            </a:pPr>
            <a:r>
              <a:t>• Experiment without breaking the main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67048"/>
                </a:solidFill>
                <a:latin typeface="Aptos Display"/>
              </a:defRPr>
            </a:pPr>
            <a:r>
              <a:t>What Is a Repository?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86E7D"/>
                </a:solidFill>
                <a:latin typeface="Aptos"/>
              </a:defRPr>
            </a:pPr>
            <a:r>
              <a:t>A project folder + its Git history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4023360" cy="2926080"/>
          </a:xfrm>
          <a:prstGeom prst="roundRect">
            <a:avLst/>
          </a:prstGeom>
          <a:solidFill>
            <a:srgbClr val="EEF0F5"/>
          </a:solidFill>
          <a:ln>
            <a:solidFill>
              <a:srgbClr val="D7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>
              <a:defRPr sz="1700">
                <a:solidFill>
                  <a:srgbClr val="232630"/>
                </a:solidFill>
                <a:latin typeface="Consolas"/>
              </a:defRPr>
            </a:pPr>
            <a:r>
              <a:t>student-website/</a:t>
            </a:r>
            <a:br/>
            <a:r>
              <a:t>├── index.html</a:t>
            </a:r>
            <a:br/>
            <a:r>
              <a:t>├── style.css</a:t>
            </a:r>
            <a:br/>
            <a:r>
              <a:t>├── script.js</a:t>
            </a:r>
            <a:br/>
            <a:r>
              <a:t>└── README.md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0" y="1828800"/>
            <a:ext cx="2286000" cy="1234440"/>
          </a:xfrm>
          <a:prstGeom prst="roundRect">
            <a:avLst/>
          </a:prstGeom>
          <a:solidFill>
            <a:srgbClr val="1C2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FILES</a:t>
            </a:r>
          </a:p>
          <a:p>
            <a:pPr algn="ctr">
              <a:defRPr sz="1200">
                <a:solidFill>
                  <a:srgbClr val="FFFFFF"/>
                </a:solidFill>
                <a:latin typeface="Aptos"/>
              </a:defRPr>
            </a:pPr>
            <a:r>
              <a:t>Your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49640" y="1828800"/>
            <a:ext cx="2286000" cy="1234440"/>
          </a:xfrm>
          <a:prstGeom prst="roundRect">
            <a:avLst/>
          </a:prstGeom>
          <a:solidFill>
            <a:srgbClr val="327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HISTORY</a:t>
            </a:r>
          </a:p>
          <a:p>
            <a:pPr algn="ctr">
              <a:defRPr sz="1200">
                <a:solidFill>
                  <a:srgbClr val="FFFFFF"/>
                </a:solidFill>
                <a:latin typeface="Aptos"/>
              </a:defRPr>
            </a:pPr>
            <a:r>
              <a:t>Tracked by Git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955279" y="2450592"/>
            <a:ext cx="502921" cy="0"/>
          </a:xfrm>
          <a:prstGeom prst="line">
            <a:avLst/>
          </a:prstGeom>
          <a:ln w="27940">
            <a:solidFill>
              <a:srgbClr val="327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577840" y="3657600"/>
            <a:ext cx="5394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F67048"/>
                </a:solidFill>
              </a:defRPr>
            </a:pPr>
            <a:r>
              <a:t>Repository = Repo</a:t>
            </a:r>
          </a:p>
          <a:p>
            <a:pPr algn="ctr">
              <a:defRPr sz="1700">
                <a:solidFill>
                  <a:srgbClr val="232630"/>
                </a:solidFill>
              </a:defRPr>
            </a:pPr>
            <a:r>
              <a:t>One place for the project and its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67048"/>
                </a:solidFill>
                <a:latin typeface="Aptos Display"/>
              </a:defRPr>
            </a:pPr>
            <a:r>
              <a:t>Local vs. GitHub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86E7D"/>
                </a:solidFill>
                <a:latin typeface="Aptos"/>
              </a:defRPr>
            </a:pPr>
            <a:r>
              <a:t>Your laptop and GitHub are two copies of the repository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57400"/>
            <a:ext cx="3108960" cy="1463040"/>
          </a:xfrm>
          <a:prstGeom prst="roundRect">
            <a:avLst/>
          </a:prstGeom>
          <a:solidFill>
            <a:srgbClr val="1C2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MY LAPTOP</a:t>
            </a:r>
          </a:p>
          <a:p>
            <a:pPr algn="ctr">
              <a:defRPr sz="1200">
                <a:solidFill>
                  <a:srgbClr val="FFFFFF"/>
                </a:solidFill>
                <a:latin typeface="Aptos"/>
              </a:defRPr>
            </a:pPr>
            <a:r>
              <a:t>Local repository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2057400"/>
            <a:ext cx="3108960" cy="1463040"/>
          </a:xfrm>
          <a:prstGeom prst="roundRect">
            <a:avLst/>
          </a:prstGeom>
          <a:solidFill>
            <a:srgbClr val="327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GITHUB</a:t>
            </a:r>
          </a:p>
          <a:p>
            <a:pPr algn="ctr">
              <a:defRPr sz="1200">
                <a:solidFill>
                  <a:srgbClr val="FFFFFF"/>
                </a:solidFill>
                <a:latin typeface="Aptos"/>
              </a:defRPr>
            </a:pPr>
            <a:r>
              <a:t>Remote repository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0" y="2468880"/>
            <a:ext cx="3931920" cy="0"/>
          </a:xfrm>
          <a:prstGeom prst="line">
            <a:avLst/>
          </a:prstGeom>
          <a:ln w="27940">
            <a:solidFill>
              <a:srgbClr val="327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4114800" y="3154680"/>
            <a:ext cx="3931920" cy="0"/>
          </a:xfrm>
          <a:prstGeom prst="line">
            <a:avLst/>
          </a:prstGeom>
          <a:ln w="27940">
            <a:solidFill>
              <a:srgbClr val="327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846320" y="1965960"/>
            <a:ext cx="24688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232630"/>
                </a:solidFill>
              </a:defRPr>
            </a:pPr>
            <a:r>
              <a:t>PUSH  →</a:t>
            </a:r>
          </a:p>
          <a:p>
            <a:pPr algn="ctr">
              <a:defRPr sz="2100" b="1">
                <a:solidFill>
                  <a:srgbClr val="232630"/>
                </a:solidFill>
              </a:defRPr>
            </a:pPr>
            <a:r>
              <a:t>←  PULL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572000"/>
            <a:ext cx="8686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32630"/>
                </a:solidFill>
                <a:latin typeface="Aptos"/>
              </a:defRPr>
            </a:pPr>
            <a:r>
              <a:t>• Push: send your commits to GitHub</a:t>
            </a:r>
          </a:p>
          <a:p>
            <a:pPr>
              <a:spcAft>
                <a:spcPts val="1400"/>
              </a:spcAft>
              <a:defRPr sz="1800">
                <a:solidFill>
                  <a:srgbClr val="232630"/>
                </a:solidFill>
                <a:latin typeface="Aptos"/>
              </a:defRPr>
            </a:pPr>
            <a:r>
              <a:t>• Pull: bring remote changes into your current branch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67048"/>
                </a:solidFill>
                <a:latin typeface="Aptos Display"/>
              </a:defRPr>
            </a:pPr>
            <a:r>
              <a:t>Get the Repository on Your Computer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86E7D"/>
                </a:solidFill>
                <a:latin typeface="Aptos"/>
              </a:defRPr>
            </a:pPr>
            <a:r>
              <a:t>Clone it once, then work locally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4754880" cy="1920240"/>
          </a:xfrm>
          <a:prstGeom prst="roundRect">
            <a:avLst/>
          </a:prstGeom>
          <a:solidFill>
            <a:srgbClr val="EEF0F5"/>
          </a:solidFill>
          <a:ln>
            <a:solidFill>
              <a:srgbClr val="D7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>
              <a:defRPr sz="1700">
                <a:solidFill>
                  <a:srgbClr val="232630"/>
                </a:solidFill>
                <a:latin typeface="Consolas"/>
              </a:defRPr>
            </a:pPr>
            <a:r>
              <a:t>git clone &lt;repository-url&gt;</a:t>
            </a:r>
            <a:br/>
            <a:r>
              <a:t>cd github-demo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737360"/>
            <a:ext cx="1920240" cy="1188720"/>
          </a:xfrm>
          <a:prstGeom prst="roundRect">
            <a:avLst/>
          </a:prstGeom>
          <a:solidFill>
            <a:srgbClr val="327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GITHUB</a:t>
            </a:r>
          </a:p>
          <a:p>
            <a:pPr algn="ctr">
              <a:defRPr sz="1200">
                <a:solidFill>
                  <a:srgbClr val="FFFFFF"/>
                </a:solidFill>
                <a:latin typeface="Aptos"/>
              </a:defRPr>
            </a:pPr>
            <a:r>
              <a:t>repo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5440" y="3291840"/>
            <a:ext cx="1920240" cy="1188720"/>
          </a:xfrm>
          <a:prstGeom prst="roundRect">
            <a:avLst/>
          </a:prstGeom>
          <a:solidFill>
            <a:srgbClr val="1C2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LAPTOP</a:t>
            </a:r>
          </a:p>
          <a:p>
            <a:pPr algn="ctr">
              <a:defRPr sz="1200">
                <a:solidFill>
                  <a:srgbClr val="FFFFFF"/>
                </a:solidFill>
                <a:latin typeface="Aptos"/>
              </a:defRPr>
            </a:pPr>
            <a:r>
              <a:t>local copy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229600" y="2743200"/>
            <a:ext cx="1051560" cy="594360"/>
          </a:xfrm>
          <a:prstGeom prst="line">
            <a:avLst/>
          </a:prstGeom>
          <a:ln w="27940">
            <a:solidFill>
              <a:srgbClr val="327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05840" y="4297680"/>
            <a:ext cx="4754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32630"/>
                </a:solidFill>
              </a:defRPr>
            </a:pPr>
            <a:r>
              <a:t>Clone = “I don’t have the project yet.”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67048"/>
                </a:solidFill>
                <a:latin typeface="Aptos Display"/>
              </a:defRPr>
            </a:pPr>
            <a:r>
              <a:t>Check Before You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86E7D"/>
                </a:solidFill>
                <a:latin typeface="Aptos"/>
              </a:defRPr>
            </a:pPr>
            <a:r>
              <a:t>Two useful commands: status and fetch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5120640" cy="1828800"/>
          </a:xfrm>
          <a:prstGeom prst="roundRect">
            <a:avLst/>
          </a:prstGeom>
          <a:solidFill>
            <a:srgbClr val="1C2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git status</a:t>
            </a:r>
          </a:p>
          <a:p>
            <a:pPr algn="ctr">
              <a:defRPr sz="1200">
                <a:solidFill>
                  <a:srgbClr val="FFFFFF"/>
                </a:solidFill>
                <a:latin typeface="Aptos"/>
              </a:defRPr>
            </a:pPr>
            <a:r>
              <a:t>What is happening in my local repo?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737360"/>
            <a:ext cx="5120640" cy="1828800"/>
          </a:xfrm>
          <a:prstGeom prst="roundRect">
            <a:avLst/>
          </a:prstGeom>
          <a:solidFill>
            <a:srgbClr val="327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git fetch</a:t>
            </a:r>
          </a:p>
          <a:p>
            <a:pPr algn="ctr">
              <a:defRPr sz="1200">
                <a:solidFill>
                  <a:srgbClr val="FFFFFF"/>
                </a:solidFill>
                <a:latin typeface="Aptos"/>
              </a:defRPr>
            </a:pPr>
            <a:r>
              <a:t>Check/download remote update information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4114800"/>
            <a:ext cx="100584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32630"/>
                </a:solidFill>
                <a:latin typeface="Aptos"/>
              </a:defRPr>
            </a:pPr>
            <a:r>
              <a:t>• status → current branch, modified files, staged files</a:t>
            </a:r>
          </a:p>
          <a:p>
            <a:pPr>
              <a:spcAft>
                <a:spcPts val="1400"/>
              </a:spcAft>
              <a:defRPr sz="1800">
                <a:solidFill>
                  <a:srgbClr val="232630"/>
                </a:solidFill>
                <a:latin typeface="Aptos"/>
              </a:defRPr>
            </a:pPr>
            <a:r>
              <a:t>• fetch → updates remote information without changing your working files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67048"/>
                </a:solidFill>
                <a:latin typeface="Aptos Display"/>
              </a:defRPr>
            </a:pPr>
            <a:r>
              <a:t>Make Changes → Stage → Commit → Push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86E7D"/>
                </a:solidFill>
                <a:latin typeface="Aptos"/>
              </a:defRPr>
            </a:pPr>
            <a:r>
              <a:t>The workflow you will use again and again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103120"/>
            <a:ext cx="2423160" cy="1508760"/>
          </a:xfrm>
          <a:prstGeom prst="roundRect">
            <a:avLst/>
          </a:prstGeom>
          <a:solidFill>
            <a:srgbClr val="1C2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CHANGE</a:t>
            </a:r>
          </a:p>
          <a:p>
            <a:pPr algn="ctr">
              <a:defRPr sz="1200">
                <a:solidFill>
                  <a:srgbClr val="FFFFFF"/>
                </a:solidFill>
                <a:latin typeface="Aptos"/>
              </a:defRPr>
            </a:pPr>
            <a:r>
              <a:t>Edit a file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017520" y="2852928"/>
            <a:ext cx="320040" cy="0"/>
          </a:xfrm>
          <a:prstGeom prst="line">
            <a:avLst/>
          </a:prstGeom>
          <a:ln w="27940">
            <a:solidFill>
              <a:srgbClr val="327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429000" y="2103120"/>
            <a:ext cx="2423160" cy="1508760"/>
          </a:xfrm>
          <a:prstGeom prst="roundRect">
            <a:avLst/>
          </a:prstGeom>
          <a:solidFill>
            <a:srgbClr val="1C2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STAGE</a:t>
            </a:r>
          </a:p>
          <a:p>
            <a:pPr algn="ctr">
              <a:defRPr sz="1200">
                <a:solidFill>
                  <a:srgbClr val="FFFFFF"/>
                </a:solidFill>
                <a:latin typeface="Aptos"/>
              </a:defRPr>
            </a:pPr>
            <a:r>
              <a:t>git add 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52160" y="2852928"/>
            <a:ext cx="320040" cy="0"/>
          </a:xfrm>
          <a:prstGeom prst="line">
            <a:avLst/>
          </a:prstGeom>
          <a:ln w="27940">
            <a:solidFill>
              <a:srgbClr val="327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263640" y="2103120"/>
            <a:ext cx="2423160" cy="1508760"/>
          </a:xfrm>
          <a:prstGeom prst="roundRect">
            <a:avLst/>
          </a:prstGeom>
          <a:solidFill>
            <a:srgbClr val="1C2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COMMIT</a:t>
            </a:r>
          </a:p>
          <a:p>
            <a:pPr algn="ctr">
              <a:defRPr sz="1200">
                <a:solidFill>
                  <a:srgbClr val="FFFFFF"/>
                </a:solidFill>
                <a:latin typeface="Aptos"/>
              </a:defRPr>
            </a:pPr>
            <a:r>
              <a:t>git commit -m "message"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686800" y="2852928"/>
            <a:ext cx="320040" cy="0"/>
          </a:xfrm>
          <a:prstGeom prst="line">
            <a:avLst/>
          </a:prstGeom>
          <a:ln w="27940">
            <a:solidFill>
              <a:srgbClr val="327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098280" y="2103120"/>
            <a:ext cx="2423160" cy="1508760"/>
          </a:xfrm>
          <a:prstGeom prst="roundRect">
            <a:avLst/>
          </a:prstGeom>
          <a:solidFill>
            <a:srgbClr val="327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PUSH</a:t>
            </a:r>
          </a:p>
          <a:p>
            <a:pPr algn="ctr">
              <a:defRPr sz="1200">
                <a:solidFill>
                  <a:srgbClr val="FFFFFF"/>
                </a:solidFill>
                <a:latin typeface="Aptos"/>
              </a:defRPr>
            </a:pPr>
            <a:r>
              <a:t>git push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572000"/>
            <a:ext cx="9966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F67048"/>
                </a:solidFill>
              </a:defRPr>
            </a:pPr>
            <a:r>
              <a:t>Change it → stage it → commit it → push 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67048"/>
                </a:solidFill>
                <a:latin typeface="Aptos Display"/>
              </a:defRPr>
            </a:pPr>
            <a:r>
              <a:t>Branches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86E7D"/>
                </a:solidFill>
                <a:latin typeface="Aptos"/>
              </a:defRPr>
            </a:pPr>
            <a:r>
              <a:t>Work on your feature without changing main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3657600"/>
            <a:ext cx="256032" cy="256032"/>
          </a:xfrm>
          <a:prstGeom prst="ellipse">
            <a:avLst/>
          </a:prstGeom>
          <a:solidFill>
            <a:srgbClr val="1C2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43200" y="3657600"/>
            <a:ext cx="256032" cy="256032"/>
          </a:xfrm>
          <a:prstGeom prst="ellipse">
            <a:avLst/>
          </a:prstGeom>
          <a:solidFill>
            <a:srgbClr val="1C2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0" y="3657600"/>
            <a:ext cx="256032" cy="256032"/>
          </a:xfrm>
          <a:prstGeom prst="ellipse">
            <a:avLst/>
          </a:prstGeom>
          <a:solidFill>
            <a:srgbClr val="1C2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0" y="3657600"/>
            <a:ext cx="256032" cy="256032"/>
          </a:xfrm>
          <a:prstGeom prst="ellipse">
            <a:avLst/>
          </a:prstGeom>
          <a:solidFill>
            <a:srgbClr val="1C2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0" y="3657600"/>
            <a:ext cx="256032" cy="256032"/>
          </a:xfrm>
          <a:prstGeom prst="ellipse">
            <a:avLst/>
          </a:prstGeom>
          <a:solidFill>
            <a:srgbClr val="1C2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0" y="3657600"/>
            <a:ext cx="256032" cy="256032"/>
          </a:xfrm>
          <a:prstGeom prst="ellipse">
            <a:avLst/>
          </a:prstGeom>
          <a:solidFill>
            <a:srgbClr val="1C2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170432" y="3785615"/>
            <a:ext cx="1572768" cy="0"/>
          </a:xfrm>
          <a:prstGeom prst="line">
            <a:avLst/>
          </a:prstGeom>
          <a:ln w="25400">
            <a:solidFill>
              <a:srgbClr val="1C2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999232" y="3785615"/>
            <a:ext cx="1572768" cy="0"/>
          </a:xfrm>
          <a:prstGeom prst="line">
            <a:avLst/>
          </a:prstGeom>
          <a:ln w="25400">
            <a:solidFill>
              <a:srgbClr val="1C2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828032" y="3785615"/>
            <a:ext cx="1572768" cy="0"/>
          </a:xfrm>
          <a:prstGeom prst="line">
            <a:avLst/>
          </a:prstGeom>
          <a:ln w="25400">
            <a:solidFill>
              <a:srgbClr val="1C2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656832" y="3785615"/>
            <a:ext cx="1572768" cy="0"/>
          </a:xfrm>
          <a:prstGeom prst="line">
            <a:avLst/>
          </a:prstGeom>
          <a:ln w="25400">
            <a:solidFill>
              <a:srgbClr val="1C2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485632" y="3785615"/>
            <a:ext cx="1572768" cy="0"/>
          </a:xfrm>
          <a:prstGeom prst="line">
            <a:avLst/>
          </a:prstGeom>
          <a:ln w="25400">
            <a:solidFill>
              <a:srgbClr val="1C2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700016" y="2423160"/>
            <a:ext cx="969264" cy="1234440"/>
          </a:xfrm>
          <a:prstGeom prst="line">
            <a:avLst/>
          </a:prstGeom>
          <a:ln w="25400">
            <a:solidFill>
              <a:srgbClr val="327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669280" y="2423160"/>
            <a:ext cx="1645920" cy="0"/>
          </a:xfrm>
          <a:prstGeom prst="line">
            <a:avLst/>
          </a:prstGeom>
          <a:ln w="25400">
            <a:solidFill>
              <a:srgbClr val="327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532120" y="2295144"/>
            <a:ext cx="256032" cy="256032"/>
          </a:xfrm>
          <a:prstGeom prst="ellipse">
            <a:avLst/>
          </a:prstGeom>
          <a:solidFill>
            <a:srgbClr val="327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2295144"/>
            <a:ext cx="256032" cy="256032"/>
          </a:xfrm>
          <a:prstGeom prst="ellipse">
            <a:avLst/>
          </a:prstGeom>
          <a:solidFill>
            <a:srgbClr val="327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7240" y="4709160"/>
            <a:ext cx="4389120" cy="914400"/>
          </a:xfrm>
          <a:prstGeom prst="roundRect">
            <a:avLst/>
          </a:prstGeom>
          <a:solidFill>
            <a:srgbClr val="EEF0F5"/>
          </a:solidFill>
          <a:ln>
            <a:solidFill>
              <a:srgbClr val="D7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>
              <a:defRPr sz="1700">
                <a:solidFill>
                  <a:srgbClr val="232630"/>
                </a:solidFill>
                <a:latin typeface="Consolas"/>
              </a:defRPr>
            </a:pPr>
            <a:r>
              <a:t>git switch -c feature-login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4663440"/>
            <a:ext cx="5486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32630"/>
                </a:solidFill>
              </a:defRPr>
            </a:pPr>
            <a:r>
              <a:t>main = shared work   •   branch = your separate workspace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67048"/>
                </a:solidFill>
                <a:latin typeface="Aptos Display"/>
              </a:defRPr>
            </a:pPr>
            <a:r>
              <a:t>Work on Your Own Branch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86E7D"/>
                </a:solidFill>
                <a:latin typeface="Aptos"/>
              </a:defRPr>
            </a:pPr>
            <a:r>
              <a:t>Then send that branch to GitHub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00200"/>
            <a:ext cx="5943600" cy="3566160"/>
          </a:xfrm>
          <a:prstGeom prst="roundRect">
            <a:avLst/>
          </a:prstGeom>
          <a:solidFill>
            <a:srgbClr val="EEF0F5"/>
          </a:solidFill>
          <a:ln>
            <a:solidFill>
              <a:srgbClr val="D7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>
              <a:defRPr sz="1700">
                <a:solidFill>
                  <a:srgbClr val="232630"/>
                </a:solidFill>
                <a:latin typeface="Consolas"/>
              </a:defRPr>
            </a:pPr>
            <a:r>
              <a:t>git switch -c feature-login</a:t>
            </a:r>
            <a:br/>
            <a:r>
              <a:t># make changes</a:t>
            </a:r>
            <a:br/>
            <a:r>
              <a:t>git add .</a:t>
            </a:r>
            <a:br/>
            <a:r>
              <a:t>git commit -m "Add login page"</a:t>
            </a:r>
            <a:br/>
            <a:r>
              <a:t>git push -u origin feature-login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737360"/>
            <a:ext cx="41148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32630"/>
                </a:solidFill>
                <a:latin typeface="Aptos"/>
              </a:defRPr>
            </a:pPr>
            <a:r>
              <a:t>• Create and enter your branch</a:t>
            </a:r>
          </a:p>
          <a:p>
            <a:pPr>
              <a:spcAft>
                <a:spcPts val="1400"/>
              </a:spcAft>
              <a:defRPr sz="1800">
                <a:solidFill>
                  <a:srgbClr val="232630"/>
                </a:solidFill>
                <a:latin typeface="Aptos"/>
              </a:defRPr>
            </a:pPr>
            <a:r>
              <a:t>• Make your changes</a:t>
            </a:r>
          </a:p>
          <a:p>
            <a:pPr>
              <a:spcAft>
                <a:spcPts val="1400"/>
              </a:spcAft>
              <a:defRPr sz="1800">
                <a:solidFill>
                  <a:srgbClr val="232630"/>
                </a:solidFill>
                <a:latin typeface="Aptos"/>
              </a:defRPr>
            </a:pPr>
            <a:r>
              <a:t>• Stage and commit them</a:t>
            </a:r>
          </a:p>
          <a:p>
            <a:pPr>
              <a:spcAft>
                <a:spcPts val="1400"/>
              </a:spcAft>
              <a:defRPr sz="1800">
                <a:solidFill>
                  <a:srgbClr val="232630"/>
                </a:solidFill>
                <a:latin typeface="Aptos"/>
              </a:defRPr>
            </a:pPr>
            <a:r>
              <a:t>• Push the branch to GitHub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67048"/>
                </a:solidFill>
                <a:latin typeface="Aptos Display"/>
              </a:defRPr>
            </a:pPr>
            <a:r>
              <a:t>Pull the Latest Changes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86E7D"/>
                </a:solidFill>
                <a:latin typeface="Aptos"/>
              </a:defRPr>
            </a:pPr>
            <a:r>
              <a:t>Keep your local branch up to date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965960"/>
            <a:ext cx="3017520" cy="1371600"/>
          </a:xfrm>
          <a:prstGeom prst="roundRect">
            <a:avLst/>
          </a:prstGeom>
          <a:solidFill>
            <a:srgbClr val="327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GITHUB</a:t>
            </a:r>
          </a:p>
          <a:p>
            <a:pPr algn="ctr">
              <a:defRPr sz="1200">
                <a:solidFill>
                  <a:srgbClr val="FFFFFF"/>
                </a:solidFill>
                <a:latin typeface="Aptos"/>
              </a:defRPr>
            </a:pPr>
            <a:r>
              <a:t>new commits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83879" y="1965960"/>
            <a:ext cx="3017520" cy="1371600"/>
          </a:xfrm>
          <a:prstGeom prst="roundRect">
            <a:avLst/>
          </a:prstGeom>
          <a:solidFill>
            <a:srgbClr val="1C2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MY LAPTOP</a:t>
            </a:r>
          </a:p>
          <a:p>
            <a:pPr algn="ctr">
              <a:defRPr sz="1200">
                <a:solidFill>
                  <a:srgbClr val="FFFFFF"/>
                </a:solidFill>
                <a:latin typeface="Aptos"/>
              </a:defRPr>
            </a:pPr>
            <a:r>
              <a:t>current branch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0" y="2651760"/>
            <a:ext cx="3977640" cy="0"/>
          </a:xfrm>
          <a:prstGeom prst="line">
            <a:avLst/>
          </a:prstGeom>
          <a:ln w="27940">
            <a:solidFill>
              <a:srgbClr val="327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892040" y="3246120"/>
            <a:ext cx="2377440" cy="914400"/>
          </a:xfrm>
          <a:prstGeom prst="roundRect">
            <a:avLst/>
          </a:prstGeom>
          <a:solidFill>
            <a:srgbClr val="EEF0F5"/>
          </a:solidFill>
          <a:ln>
            <a:solidFill>
              <a:srgbClr val="D7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>
              <a:defRPr sz="1700">
                <a:solidFill>
                  <a:srgbClr val="232630"/>
                </a:solidFill>
                <a:latin typeface="Consolas"/>
              </a:defRPr>
            </a:pPr>
            <a:r>
              <a:t>git pull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754880"/>
            <a:ext cx="8595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32630"/>
                </a:solidFill>
              </a:defRPr>
            </a:pPr>
            <a:r>
              <a:t>Pull = get remote changes + integrate them into your current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67048"/>
                </a:solidFill>
                <a:latin typeface="Aptos Display"/>
              </a:defRPr>
            </a:pPr>
            <a:r>
              <a:t>Git Workflow — Quick Cheat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86E7D"/>
                </a:solidFill>
                <a:latin typeface="Aptos"/>
              </a:defRPr>
            </a:pPr>
            <a:r>
              <a:t>The commands to remember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417320"/>
          <a:ext cx="996696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6309360"/>
              </a:tblGrid>
              <a:tr h="528320">
                <a:tc>
                  <a:txBody>
                    <a:bodyPr/>
                    <a:lstStyle/>
                    <a:p>
                      <a:pPr>
                        <a:defRPr b="1" sz="1700">
                          <a:solidFill>
                            <a:srgbClr val="FFFFFF"/>
                          </a:solidFill>
                        </a:defRPr>
                      </a:pPr>
                      <a:r>
                        <a:t>Command</a:t>
                      </a:r>
                    </a:p>
                  </a:txBody>
                  <a:tcPr>
                    <a:solidFill>
                      <a:srgbClr val="1C26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700">
                          <a:solidFill>
                            <a:srgbClr val="FFFFFF"/>
                          </a:solidFill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1C265B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630"/>
                          </a:solidFill>
                          <a:latin typeface="Consolas"/>
                        </a:defRPr>
                      </a:pPr>
                      <a:r>
                        <a:t>git clone URL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630"/>
                          </a:solidFill>
                          <a:latin typeface="Aptos"/>
                        </a:defRPr>
                      </a:pPr>
                      <a:r>
                        <a:t>Get the repo for the first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630"/>
                          </a:solidFill>
                          <a:latin typeface="Consolas"/>
                        </a:defRPr>
                      </a:pPr>
                      <a:r>
                        <a:t>git status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630"/>
                          </a:solidFill>
                          <a:latin typeface="Aptos"/>
                        </a:defRPr>
                      </a:pPr>
                      <a:r>
                        <a:t>See what is happening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630"/>
                          </a:solidFill>
                          <a:latin typeface="Consolas"/>
                        </a:defRPr>
                      </a:pPr>
                      <a:r>
                        <a:t>git fetch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630"/>
                          </a:solidFill>
                          <a:latin typeface="Aptos"/>
                        </a:defRPr>
                      </a:pPr>
                      <a:r>
                        <a:t>Check/download remote update info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630"/>
                          </a:solidFill>
                          <a:latin typeface="Consolas"/>
                        </a:defRPr>
                      </a:pPr>
                      <a:r>
                        <a:t>git switch -c name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630"/>
                          </a:solidFill>
                          <a:latin typeface="Aptos"/>
                        </a:defRPr>
                      </a:pPr>
                      <a:r>
                        <a:t>Create and enter a branch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630"/>
                          </a:solidFill>
                          <a:latin typeface="Consolas"/>
                        </a:defRPr>
                      </a:pPr>
                      <a:r>
                        <a:t>git add 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630"/>
                          </a:solidFill>
                          <a:latin typeface="Aptos"/>
                        </a:defRPr>
                      </a:pPr>
                      <a:r>
                        <a:t>Stage changes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630"/>
                          </a:solidFill>
                          <a:latin typeface="Consolas"/>
                        </a:defRPr>
                      </a:pPr>
                      <a:r>
                        <a:t>git commit -m "..."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630"/>
                          </a:solidFill>
                          <a:latin typeface="Aptos"/>
                        </a:defRPr>
                      </a:pPr>
                      <a:r>
                        <a:t>Save a checkpoint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630"/>
                          </a:solidFill>
                          <a:latin typeface="Consolas"/>
                        </a:defRPr>
                      </a:pPr>
                      <a:r>
                        <a:t>git push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630"/>
                          </a:solidFill>
                          <a:latin typeface="Aptos"/>
                        </a:defRPr>
                      </a:pPr>
                      <a:r>
                        <a:t>Send commits to GitHub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630"/>
                          </a:solidFill>
                          <a:latin typeface="Consolas"/>
                        </a:defRPr>
                      </a:pPr>
                      <a:r>
                        <a:t>git pull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630"/>
                          </a:solidFill>
                          <a:latin typeface="Aptos"/>
                        </a:defRPr>
                      </a:pPr>
                      <a:r>
                        <a:t>Bring remote changes into your branch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